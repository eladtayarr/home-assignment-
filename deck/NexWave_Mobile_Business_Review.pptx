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0.15</c:v>
                </c:pt>
                <c:pt idx="1">
                  <c:v>0.14</c:v>
                </c:pt>
                <c:pt idx="2">
                  <c:v>0.16</c:v>
                </c:pt>
                <c:pt idx="3">
                  <c:v>0.15</c:v>
                </c:pt>
                <c:pt idx="4">
                  <c:v>0.17</c:v>
                </c:pt>
                <c:pt idx="5">
                  <c:v>0.19</c:v>
                </c:pt>
                <c:pt idx="6">
                  <c:v>0.24</c:v>
                </c:pt>
                <c:pt idx="7">
                  <c:v>0.28</c:v>
                </c:pt>
                <c:pt idx="8">
                  <c:v>0.3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761"/>
        </a:solidFill>
        <a:ln>
          <a:noFill/>
        </a:ln>
        <a:effectLst/>
      </c:spPr>
    </c:plotArea>
    <c:plotVisOnly val="1"/>
    <c:dispBlanksAs val="span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Calibri"/>
              </a:rPr>
              <a:t>Total billed revenue, ₪k per month (Jul-2023 → Dec-2025)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(k)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Jul-23</c:v>
                  </c:pt>
                  <c:pt idx="1">
                    <c:v>Aug-23</c:v>
                  </c:pt>
                  <c:pt idx="2">
                    <c:v>Sep-23</c:v>
                  </c:pt>
                  <c:pt idx="3">
                    <c:v>Oct-23</c:v>
                  </c:pt>
                  <c:pt idx="4">
                    <c:v>Nov-23</c:v>
                  </c:pt>
                  <c:pt idx="5">
                    <c:v>Dec-23</c:v>
                  </c:pt>
                  <c:pt idx="6">
                    <c:v>Jan-24</c:v>
                  </c:pt>
                  <c:pt idx="7">
                    <c:v>Feb-24</c:v>
                  </c:pt>
                  <c:pt idx="8">
                    <c:v>Mar-24</c:v>
                  </c:pt>
                  <c:pt idx="9">
                    <c:v>Apr-24</c:v>
                  </c:pt>
                  <c:pt idx="10">
                    <c:v>May-24</c:v>
                  </c:pt>
                  <c:pt idx="11">
                    <c:v>Jun-24</c:v>
                  </c:pt>
                  <c:pt idx="12">
                    <c:v>Jul-24</c:v>
                  </c:pt>
                  <c:pt idx="13">
                    <c:v>Aug-24</c:v>
                  </c:pt>
                  <c:pt idx="14">
                    <c:v>Sep-24</c:v>
                  </c:pt>
                  <c:pt idx="15">
                    <c:v>Oct-24</c:v>
                  </c:pt>
                  <c:pt idx="16">
                    <c:v>Nov-24</c:v>
                  </c:pt>
                  <c:pt idx="17">
                    <c:v>Dec-24</c:v>
                  </c:pt>
                  <c:pt idx="18">
                    <c:v>Jan-25</c:v>
                  </c:pt>
                  <c:pt idx="19">
                    <c:v>Feb-25</c:v>
                  </c:pt>
                  <c:pt idx="20">
                    <c:v>Mar-25</c:v>
                  </c:pt>
                  <c:pt idx="21">
                    <c:v>Apr-25</c:v>
                  </c:pt>
                  <c:pt idx="22">
                    <c:v>May-25</c:v>
                  </c:pt>
                  <c:pt idx="23">
                    <c:v>Jun-25</c:v>
                  </c:pt>
                  <c:pt idx="24">
                    <c:v>Jul-25</c:v>
                  </c:pt>
                  <c:pt idx="25">
                    <c:v>Aug-25</c:v>
                  </c:pt>
                  <c:pt idx="26">
                    <c:v>Sep-25</c:v>
                  </c:pt>
                  <c:pt idx="27">
                    <c:v>Oct-25</c:v>
                  </c:pt>
                  <c:pt idx="28">
                    <c:v>Nov-25</c:v>
                  </c:pt>
                  <c:pt idx="29">
                    <c:v>Dec-25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842.1</c:v>
                </c:pt>
                <c:pt idx="1">
                  <c:v>874.9</c:v>
                </c:pt>
                <c:pt idx="2">
                  <c:v>905.5</c:v>
                </c:pt>
                <c:pt idx="3">
                  <c:v>938.9</c:v>
                </c:pt>
                <c:pt idx="4">
                  <c:v>974.7</c:v>
                </c:pt>
                <c:pt idx="5">
                  <c:v>1007.5</c:v>
                </c:pt>
                <c:pt idx="6">
                  <c:v>1038.8</c:v>
                </c:pt>
                <c:pt idx="7">
                  <c:v>1072.3</c:v>
                </c:pt>
                <c:pt idx="8">
                  <c:v>1102.4</c:v>
                </c:pt>
                <c:pt idx="9">
                  <c:v>1133.2</c:v>
                </c:pt>
                <c:pt idx="10">
                  <c:v>1165.2</c:v>
                </c:pt>
                <c:pt idx="11">
                  <c:v>1196.1</c:v>
                </c:pt>
                <c:pt idx="12">
                  <c:v>1227.3</c:v>
                </c:pt>
                <c:pt idx="13">
                  <c:v>1258.8</c:v>
                </c:pt>
                <c:pt idx="14">
                  <c:v>1289.5</c:v>
                </c:pt>
                <c:pt idx="15">
                  <c:v>1324.4</c:v>
                </c:pt>
                <c:pt idx="16">
                  <c:v>1357.9</c:v>
                </c:pt>
                <c:pt idx="17">
                  <c:v>1391.3</c:v>
                </c:pt>
                <c:pt idx="18">
                  <c:v>1427.3</c:v>
                </c:pt>
                <c:pt idx="19">
                  <c:v>1464</c:v>
                </c:pt>
                <c:pt idx="20">
                  <c:v>1503</c:v>
                </c:pt>
                <c:pt idx="21">
                  <c:v>1542.5</c:v>
                </c:pt>
                <c:pt idx="22">
                  <c:v>1584</c:v>
                </c:pt>
                <c:pt idx="23">
                  <c:v>1638.5</c:v>
                </c:pt>
                <c:pt idx="24">
                  <c:v>1691.2</c:v>
                </c:pt>
                <c:pt idx="25">
                  <c:v>1742.5</c:v>
                </c:pt>
                <c:pt idx="26">
                  <c:v>1771.4</c:v>
                </c:pt>
                <c:pt idx="27">
                  <c:v>1804.9</c:v>
                </c:pt>
                <c:pt idx="28">
                  <c:v>1832.5</c:v>
                </c:pt>
                <c:pt idx="29">
                  <c:v>1854.3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8993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993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Calibri"/>
              </a:rPr>
              <a:t>Monthly churn rate, % of prior-month base (Jul-2023 → Dec-2025)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churn rate %</c:v>
                </c:pt>
              </c:strCache>
            </c:strRef>
          </c:tx>
          <c:spPr>
            <a:solidFill>
              <a:srgbClr val="C9CEDC"/>
            </a:solidFill>
            <a:ln w="25400" cap="flat">
              <a:solidFill>
                <a:srgbClr val="C9CED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9CEDC"/>
              </a:solidFill>
              <a:ln w="9525" cap="flat">
                <a:solidFill>
                  <a:srgbClr val="C9CED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Jul-23</c:v>
                  </c:pt>
                  <c:pt idx="1">
                    <c:v>Aug-23</c:v>
                  </c:pt>
                  <c:pt idx="2">
                    <c:v>Sep-23</c:v>
                  </c:pt>
                  <c:pt idx="3">
                    <c:v>Oct-23</c:v>
                  </c:pt>
                  <c:pt idx="4">
                    <c:v>Nov-23</c:v>
                  </c:pt>
                  <c:pt idx="5">
                    <c:v>Dec-23</c:v>
                  </c:pt>
                  <c:pt idx="6">
                    <c:v>Jan-24</c:v>
                  </c:pt>
                  <c:pt idx="7">
                    <c:v>Feb-24</c:v>
                  </c:pt>
                  <c:pt idx="8">
                    <c:v>Mar-24</c:v>
                  </c:pt>
                  <c:pt idx="9">
                    <c:v>Apr-24</c:v>
                  </c:pt>
                  <c:pt idx="10">
                    <c:v>May-24</c:v>
                  </c:pt>
                  <c:pt idx="11">
                    <c:v>Jun-24</c:v>
                  </c:pt>
                  <c:pt idx="12">
                    <c:v>Jul-24</c:v>
                  </c:pt>
                  <c:pt idx="13">
                    <c:v>Aug-24</c:v>
                  </c:pt>
                  <c:pt idx="14">
                    <c:v>Sep-24</c:v>
                  </c:pt>
                  <c:pt idx="15">
                    <c:v>Oct-24</c:v>
                  </c:pt>
                  <c:pt idx="16">
                    <c:v>Nov-24</c:v>
                  </c:pt>
                  <c:pt idx="17">
                    <c:v>Dec-24</c:v>
                  </c:pt>
                  <c:pt idx="18">
                    <c:v>Jan-25</c:v>
                  </c:pt>
                  <c:pt idx="19">
                    <c:v>Feb-25</c:v>
                  </c:pt>
                  <c:pt idx="20">
                    <c:v>Mar-25</c:v>
                  </c:pt>
                  <c:pt idx="21">
                    <c:v>Apr-25</c:v>
                  </c:pt>
                  <c:pt idx="22">
                    <c:v>May-25</c:v>
                  </c:pt>
                  <c:pt idx="23">
                    <c:v>Jun-25</c:v>
                  </c:pt>
                  <c:pt idx="24">
                    <c:v>Jul-25</c:v>
                  </c:pt>
                  <c:pt idx="25">
                    <c:v>Aug-25</c:v>
                  </c:pt>
                  <c:pt idx="26">
                    <c:v>Sep-25</c:v>
                  </c:pt>
                  <c:pt idx="27">
                    <c:v>Oct-25</c:v>
                  </c:pt>
                  <c:pt idx="28">
                    <c:v>Nov-25</c:v>
                  </c:pt>
                  <c:pt idx="29">
                    <c:v>Dec-25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/>
                </c:pt>
                <c:pt idx="1">
                  <c:v>1.95</c:v>
                </c:pt>
                <c:pt idx="2">
                  <c:v>1.99</c:v>
                </c:pt>
                <c:pt idx="3">
                  <c:v>1.8</c:v>
                </c:pt>
                <c:pt idx="4">
                  <c:v>1.79</c:v>
                </c:pt>
                <c:pt idx="5">
                  <c:v>2.06</c:v>
                </c:pt>
                <c:pt idx="6">
                  <c:v>1.89</c:v>
                </c:pt>
                <c:pt idx="7">
                  <c:v>1.78</c:v>
                </c:pt>
                <c:pt idx="8">
                  <c:v>1.76</c:v>
                </c:pt>
                <c:pt idx="9">
                  <c:v>1.85</c:v>
                </c:pt>
                <c:pt idx="10">
                  <c:v>1.91</c:v>
                </c:pt>
                <c:pt idx="11">
                  <c:v>1.96</c:v>
                </c:pt>
                <c:pt idx="12">
                  <c:v>1.99</c:v>
                </c:pt>
                <c:pt idx="13">
                  <c:v>1.84</c:v>
                </c:pt>
                <c:pt idx="14">
                  <c:v>1.95</c:v>
                </c:pt>
                <c:pt idx="15">
                  <c:v>1.82</c:v>
                </c:pt>
                <c:pt idx="16">
                  <c:v>1.83</c:v>
                </c:pt>
                <c:pt idx="17">
                  <c:v>1.82</c:v>
                </c:pt>
                <c:pt idx="18">
                  <c:v>1.81</c:v>
                </c:pt>
                <c:pt idx="19">
                  <c:v>1.75</c:v>
                </c:pt>
                <c:pt idx="20">
                  <c:v>1.88</c:v>
                </c:pt>
                <c:pt idx="21">
                  <c:v>1.96</c:v>
                </c:pt>
                <c:pt idx="22">
                  <c:v>1.76</c:v>
                </c:pt>
                <c:pt idx="23">
                  <c:v>1.95</c:v>
                </c:pt>
                <c:pt idx="24">
                  <c:v>2.11</c:v>
                </c:pt>
                <c:pt idx="25">
                  <c:v>2.41</c:v>
                </c:pt>
                <c:pt idx="26">
                  <c:v>2.23</c:v>
                </c:pt>
                <c:pt idx="27">
                  <c:v>2.59</c:v>
                </c:pt>
                <c:pt idx="28">
                  <c:v>2.41</c:v>
                </c:pt>
                <c:pt idx="29">
                  <c:v>2.13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Trailing 3-month avg</c:v>
                </c:pt>
              </c:strCache>
            </c:strRef>
          </c:tx>
          <c:spPr>
            <a:solidFill>
              <a:srgbClr val="C0392B"/>
            </a:solidFill>
            <a:ln w="254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Jul-23</c:v>
                  </c:pt>
                  <c:pt idx="1">
                    <c:v>Aug-23</c:v>
                  </c:pt>
                  <c:pt idx="2">
                    <c:v>Sep-23</c:v>
                  </c:pt>
                  <c:pt idx="3">
                    <c:v>Oct-23</c:v>
                  </c:pt>
                  <c:pt idx="4">
                    <c:v>Nov-23</c:v>
                  </c:pt>
                  <c:pt idx="5">
                    <c:v>Dec-23</c:v>
                  </c:pt>
                  <c:pt idx="6">
                    <c:v>Jan-24</c:v>
                  </c:pt>
                  <c:pt idx="7">
                    <c:v>Feb-24</c:v>
                  </c:pt>
                  <c:pt idx="8">
                    <c:v>Mar-24</c:v>
                  </c:pt>
                  <c:pt idx="9">
                    <c:v>Apr-24</c:v>
                  </c:pt>
                  <c:pt idx="10">
                    <c:v>May-24</c:v>
                  </c:pt>
                  <c:pt idx="11">
                    <c:v>Jun-24</c:v>
                  </c:pt>
                  <c:pt idx="12">
                    <c:v>Jul-24</c:v>
                  </c:pt>
                  <c:pt idx="13">
                    <c:v>Aug-24</c:v>
                  </c:pt>
                  <c:pt idx="14">
                    <c:v>Sep-24</c:v>
                  </c:pt>
                  <c:pt idx="15">
                    <c:v>Oct-24</c:v>
                  </c:pt>
                  <c:pt idx="16">
                    <c:v>Nov-24</c:v>
                  </c:pt>
                  <c:pt idx="17">
                    <c:v>Dec-24</c:v>
                  </c:pt>
                  <c:pt idx="18">
                    <c:v>Jan-25</c:v>
                  </c:pt>
                  <c:pt idx="19">
                    <c:v>Feb-25</c:v>
                  </c:pt>
                  <c:pt idx="20">
                    <c:v>Mar-25</c:v>
                  </c:pt>
                  <c:pt idx="21">
                    <c:v>Apr-25</c:v>
                  </c:pt>
                  <c:pt idx="22">
                    <c:v>May-25</c:v>
                  </c:pt>
                  <c:pt idx="23">
                    <c:v>Jun-25</c:v>
                  </c:pt>
                  <c:pt idx="24">
                    <c:v>Jul-25</c:v>
                  </c:pt>
                  <c:pt idx="25">
                    <c:v>Aug-25</c:v>
                  </c:pt>
                  <c:pt idx="26">
                    <c:v>Sep-25</c:v>
                  </c:pt>
                  <c:pt idx="27">
                    <c:v>Oct-25</c:v>
                  </c:pt>
                  <c:pt idx="28">
                    <c:v>Nov-25</c:v>
                  </c:pt>
                  <c:pt idx="29">
                    <c:v>Dec-25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>1.91</c:v>
                </c:pt>
                <c:pt idx="4">
                  <c:v>1.86</c:v>
                </c:pt>
                <c:pt idx="5">
                  <c:v>1.88</c:v>
                </c:pt>
                <c:pt idx="6">
                  <c:v>1.91</c:v>
                </c:pt>
                <c:pt idx="7">
                  <c:v>1.91</c:v>
                </c:pt>
                <c:pt idx="8">
                  <c:v>1.81</c:v>
                </c:pt>
                <c:pt idx="9">
                  <c:v>1.8</c:v>
                </c:pt>
                <c:pt idx="10">
                  <c:v>1.84</c:v>
                </c:pt>
                <c:pt idx="11">
                  <c:v>1.91</c:v>
                </c:pt>
                <c:pt idx="12">
                  <c:v>1.95</c:v>
                </c:pt>
                <c:pt idx="13">
                  <c:v>1.93</c:v>
                </c:pt>
                <c:pt idx="14">
                  <c:v>1.93</c:v>
                </c:pt>
                <c:pt idx="15">
                  <c:v>1.87</c:v>
                </c:pt>
                <c:pt idx="16">
                  <c:v>1.87</c:v>
                </c:pt>
                <c:pt idx="17">
                  <c:v>1.82</c:v>
                </c:pt>
                <c:pt idx="18">
                  <c:v>1.82</c:v>
                </c:pt>
                <c:pt idx="19">
                  <c:v>1.79</c:v>
                </c:pt>
                <c:pt idx="20">
                  <c:v>1.82</c:v>
                </c:pt>
                <c:pt idx="21">
                  <c:v>1.86</c:v>
                </c:pt>
                <c:pt idx="22">
                  <c:v>1.87</c:v>
                </c:pt>
                <c:pt idx="23">
                  <c:v>1.89</c:v>
                </c:pt>
                <c:pt idx="24">
                  <c:v>1.94</c:v>
                </c:pt>
                <c:pt idx="25">
                  <c:v>2.16</c:v>
                </c:pt>
                <c:pt idx="26">
                  <c:v>2.25</c:v>
                </c:pt>
                <c:pt idx="27">
                  <c:v>2.41</c:v>
                </c:pt>
                <c:pt idx="28">
                  <c:v>2.41</c:v>
                </c:pt>
                <c:pt idx="29">
                  <c:v>2.38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8993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993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Calibri"/>
              </a:rPr>
              <a:t>Average monthly churn rate by dealer: H1 2025 vs H2 2025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H1 2025 avg churn %</c:v>
                </c:pt>
              </c:strCache>
            </c:strRef>
          </c:tx>
          <c:spPr>
            <a:solidFill>
              <a:srgbClr val="A9B3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MobileZone</c:v>
                  </c:pt>
                  <c:pt idx="1">
                    <c:v>PhoneHub</c:v>
                  </c:pt>
                  <c:pt idx="2">
                    <c:v>SmartShop</c:v>
                  </c:pt>
                  <c:pt idx="3">
                    <c:v>TopCell</c:v>
                  </c:pt>
                  <c:pt idx="4">
                    <c:v>NexWave Store Haifa</c:v>
                  </c:pt>
                  <c:pt idx="5">
                    <c:v>NexWave Online</c:v>
                  </c:pt>
                  <c:pt idx="6">
                    <c:v>GalaxyCom</c:v>
                  </c:pt>
                  <c:pt idx="7">
                    <c:v>MobileNow</c:v>
                  </c:pt>
                  <c:pt idx="8">
                    <c:v>CellFix</c:v>
                  </c:pt>
                  <c:pt idx="9">
                    <c:v>NexWave Store Tel Aviv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1.98</c:v>
                </c:pt>
                <c:pt idx="1">
                  <c:v>1.73</c:v>
                </c:pt>
                <c:pt idx="2">
                  <c:v>1.85</c:v>
                </c:pt>
                <c:pt idx="3">
                  <c:v>1.82</c:v>
                </c:pt>
                <c:pt idx="4">
                  <c:v>1.98</c:v>
                </c:pt>
                <c:pt idx="5">
                  <c:v>1.9</c:v>
                </c:pt>
                <c:pt idx="6">
                  <c:v>1.56</c:v>
                </c:pt>
                <c:pt idx="7">
                  <c:v>1.72</c:v>
                </c:pt>
                <c:pt idx="8">
                  <c:v>1.92</c:v>
                </c:pt>
                <c:pt idx="9">
                  <c:v>1.81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H2 2025 avg churn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MobileZone</c:v>
                  </c:pt>
                  <c:pt idx="1">
                    <c:v>PhoneHub</c:v>
                  </c:pt>
                  <c:pt idx="2">
                    <c:v>SmartShop</c:v>
                  </c:pt>
                  <c:pt idx="3">
                    <c:v>TopCell</c:v>
                  </c:pt>
                  <c:pt idx="4">
                    <c:v>NexWave Store Haifa</c:v>
                  </c:pt>
                  <c:pt idx="5">
                    <c:v>NexWave Online</c:v>
                  </c:pt>
                  <c:pt idx="6">
                    <c:v>GalaxyCom</c:v>
                  </c:pt>
                  <c:pt idx="7">
                    <c:v>MobileNow</c:v>
                  </c:pt>
                  <c:pt idx="8">
                    <c:v>CellFix</c:v>
                  </c:pt>
                  <c:pt idx="9">
                    <c:v>NexWave Store Tel Aviv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4.47</c:v>
                </c:pt>
                <c:pt idx="1">
                  <c:v>1.9</c:v>
                </c:pt>
                <c:pt idx="2">
                  <c:v>1.87</c:v>
                </c:pt>
                <c:pt idx="3">
                  <c:v>1.85</c:v>
                </c:pt>
                <c:pt idx="4">
                  <c:v>1.81</c:v>
                </c:pt>
                <c:pt idx="5">
                  <c:v>1.8</c:v>
                </c:pt>
                <c:pt idx="6">
                  <c:v>1.77</c:v>
                </c:pt>
                <c:pt idx="7">
                  <c:v>1.76</c:v>
                </c:pt>
                <c:pt idx="8">
                  <c:v>1.74</c:v>
                </c:pt>
                <c:pt idx="9">
                  <c:v>1.72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500000"/>
          <a:lstStyle/>
          <a:p>
            <a:pPr>
              <a:defRPr sz="900" b="0" i="0" u="none" strike="noStrike">
                <a:solidFill>
                  <a:srgbClr val="1B1F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993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B1F2A"/>
                </a:solidFill>
                <a:latin typeface="Calibri"/>
              </a:defRPr>
            </a:pPr>
            <a:r>
              <a:rPr sz="1150" b="0" i="0" u="none" strike="noStrike">
                <a:solidFill>
                  <a:srgbClr val="1B1F2A"/>
                </a:solidFill>
                <a:latin typeface="Calibri"/>
              </a:rPr>
              <a:t>MobileZone's share of company-wide new adds (last 18 months)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MobileZone share of new adds %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Jan-25</c:v>
                  </c:pt>
                  <c:pt idx="1">
                    <c:v>Feb-25</c:v>
                  </c:pt>
                  <c:pt idx="2">
                    <c:v>Mar-25</c:v>
                  </c:pt>
                  <c:pt idx="3">
                    <c:v>Apr-25</c:v>
                  </c:pt>
                  <c:pt idx="4">
                    <c:v>May-25</c:v>
                  </c:pt>
                  <c:pt idx="5">
                    <c:v>Jun-25</c:v>
                  </c:pt>
                  <c:pt idx="6">
                    <c:v>Jul-25</c:v>
                  </c:pt>
                  <c:pt idx="7">
                    <c:v>Aug-25</c:v>
                  </c:pt>
                  <c:pt idx="8">
                    <c:v>Sep-25</c:v>
                  </c:pt>
                  <c:pt idx="9">
                    <c:v>Oct-25</c:v>
                  </c:pt>
                  <c:pt idx="10">
                    <c:v>Nov-25</c:v>
                  </c:pt>
                  <c:pt idx="11">
                    <c:v>Dec-25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39.8</c:v>
                </c:pt>
                <c:pt idx="1">
                  <c:v>39.4</c:v>
                </c:pt>
                <c:pt idx="2">
                  <c:v>41.3</c:v>
                </c:pt>
                <c:pt idx="3">
                  <c:v>38.2</c:v>
                </c:pt>
                <c:pt idx="4">
                  <c:v>40.3</c:v>
                </c:pt>
                <c:pt idx="5">
                  <c:v>36.7</c:v>
                </c:pt>
                <c:pt idx="6">
                  <c:v>12.8</c:v>
                </c:pt>
                <c:pt idx="7">
                  <c:v>13.5</c:v>
                </c:pt>
                <c:pt idx="8">
                  <c:v>14.2</c:v>
                </c:pt>
                <c:pt idx="9">
                  <c:v>14.7</c:v>
                </c:pt>
                <c:pt idx="10">
                  <c:v>15.2</c:v>
                </c:pt>
                <c:pt idx="11">
                  <c:v>13.7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750" b="0" i="0" u="none" strike="noStrike">
                <a:solidFill>
                  <a:srgbClr val="8993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993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B1F2A"/>
                </a:solidFill>
                <a:latin typeface="Calibri"/>
              </a:defRPr>
            </a:pPr>
            <a:r>
              <a:rPr sz="1150" b="0" i="0" u="none" strike="noStrike">
                <a:solidFill>
                  <a:srgbClr val="1B1F2A"/>
                </a:solidFill>
                <a:latin typeface="Calibri"/>
              </a:rPr>
              <a:t>% of H1-2025 join cohort already churned within 180 days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churned within 180 days</c:v>
                </c:pt>
              </c:strCache>
            </c:strRef>
          </c:tx>
          <c:spPr>
            <a:solidFill>
              <a:srgbClr val="C0392B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CED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CED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CED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CED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9CED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9CED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9CED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9CED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9CEDC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MobileZone</c:v>
                  </c:pt>
                  <c:pt idx="1">
                    <c:v>PhoneHub</c:v>
                  </c:pt>
                  <c:pt idx="2">
                    <c:v>NexWave Online</c:v>
                  </c:pt>
                  <c:pt idx="3">
                    <c:v>CellFix</c:v>
                  </c:pt>
                  <c:pt idx="4">
                    <c:v>TopCell</c:v>
                  </c:pt>
                  <c:pt idx="5">
                    <c:v>NexWave Store Haifa</c:v>
                  </c:pt>
                  <c:pt idx="6">
                    <c:v>NexWave Store Tel Aviv</c:v>
                  </c:pt>
                  <c:pt idx="7">
                    <c:v>MobileNow</c:v>
                  </c:pt>
                  <c:pt idx="8">
                    <c:v>SmartShop</c:v>
                  </c:pt>
                  <c:pt idx="9">
                    <c:v>GalaxyCom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27.1</c:v>
                </c:pt>
                <c:pt idx="1">
                  <c:v>10.9</c:v>
                </c:pt>
                <c:pt idx="2">
                  <c:v>9.4</c:v>
                </c:pt>
                <c:pt idx="3">
                  <c:v>9.3</c:v>
                </c:pt>
                <c:pt idx="4">
                  <c:v>9.1</c:v>
                </c:pt>
                <c:pt idx="5">
                  <c:v>9.1</c:v>
                </c:pt>
                <c:pt idx="6">
                  <c:v>8.7</c:v>
                </c:pt>
                <c:pt idx="7">
                  <c:v>8.6</c:v>
                </c:pt>
                <c:pt idx="8">
                  <c:v>8</c:v>
                </c:pt>
                <c:pt idx="9">
                  <c:v>6.7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F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7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993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F2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1F2A"/>
                </a:solidFill>
                <a:latin typeface="Calibri"/>
              </a:rPr>
              <a:t>Actual vs. budget revenue, 2025 (₪k/month)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revenue (₪k)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1427.3</c:v>
                </c:pt>
                <c:pt idx="1">
                  <c:v>1464</c:v>
                </c:pt>
                <c:pt idx="2">
                  <c:v>1503</c:v>
                </c:pt>
                <c:pt idx="3">
                  <c:v>1542.5</c:v>
                </c:pt>
                <c:pt idx="4">
                  <c:v>1584</c:v>
                </c:pt>
                <c:pt idx="5">
                  <c:v>1638.5</c:v>
                </c:pt>
                <c:pt idx="6">
                  <c:v>1691.2</c:v>
                </c:pt>
                <c:pt idx="7">
                  <c:v>1742.5</c:v>
                </c:pt>
                <c:pt idx="8">
                  <c:v>1771.4</c:v>
                </c:pt>
                <c:pt idx="9">
                  <c:v>1804.9</c:v>
                </c:pt>
                <c:pt idx="10">
                  <c:v>1832.5</c:v>
                </c:pt>
                <c:pt idx="11">
                  <c:v>1854.3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 (₪k)</c:v>
                </c:pt>
              </c:strCache>
            </c:strRef>
          </c:tx>
          <c:spPr>
            <a:solidFill>
              <a:srgbClr val="B9C2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1428.9</c:v>
                </c:pt>
                <c:pt idx="1">
                  <c:v>1467.5</c:v>
                </c:pt>
                <c:pt idx="2">
                  <c:v>1507</c:v>
                </c:pt>
                <c:pt idx="3">
                  <c:v>1547.8</c:v>
                </c:pt>
                <c:pt idx="4">
                  <c:v>1589.6</c:v>
                </c:pt>
                <c:pt idx="5">
                  <c:v>1632.5</c:v>
                </c:pt>
                <c:pt idx="6">
                  <c:v>1676.6</c:v>
                </c:pt>
                <c:pt idx="7">
                  <c:v>1721.8</c:v>
                </c:pt>
                <c:pt idx="8">
                  <c:v>1768.3</c:v>
                </c:pt>
                <c:pt idx="9">
                  <c:v>1816</c:v>
                </c:pt>
                <c:pt idx="10">
                  <c:v>1865.1</c:v>
                </c:pt>
                <c:pt idx="11">
                  <c:v>1915.6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993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993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F2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1F2A"/>
                </a:solidFill>
                <a:latin typeface="Calibri"/>
              </a:rPr>
              <a:t>Cumulative YTD budget variance, 2025 (₪k)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YTD variance (₪k)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-1.6</c:v>
                </c:pt>
                <c:pt idx="1">
                  <c:v>-5.1</c:v>
                </c:pt>
                <c:pt idx="2">
                  <c:v>-9.1</c:v>
                </c:pt>
                <c:pt idx="3">
                  <c:v>-14.4</c:v>
                </c:pt>
                <c:pt idx="4">
                  <c:v>-20</c:v>
                </c:pt>
                <c:pt idx="5">
                  <c:v>-14</c:v>
                </c:pt>
                <c:pt idx="6">
                  <c:v>0.6</c:v>
                </c:pt>
                <c:pt idx="7">
                  <c:v>21.3</c:v>
                </c:pt>
                <c:pt idx="8">
                  <c:v>24.4</c:v>
                </c:pt>
                <c:pt idx="9">
                  <c:v>13.3</c:v>
                </c:pt>
                <c:pt idx="10">
                  <c:v>-19.2</c:v>
                </c:pt>
                <c:pt idx="11">
                  <c:v>-80.5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993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993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NEXWAVE MOBILE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9875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look fine.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Here's what's underneath.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 Business Health Review — Revenue, Churn &amp; Budget Performance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Elad  ·  Data Analyst home assignment  ·  NexWave Mobile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778240" y="1463040"/>
          <a:ext cx="2743200" cy="1005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numbers look fine on the surface,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something feels off lately.”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NexWave Mobile management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404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every month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2025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206240" y="320040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80560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ADDS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38404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every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in 2025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863840" y="320040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138160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BASE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38404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an all-time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high, Dec 2025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349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on paper, 2025 looks like a strong year. This deck is about what that topline view is hiding — and why it matters before it gets bigger.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TOPLINE SHOWS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has grown every month since launch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110642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97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consecutive months of growth. No red flags here — which is exactly why this needs a second look.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BREAKS DOWN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Underneath: monthly churn has stepped up ~30%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11064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1.8% → 2.6%</a:t>
            </a:r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stable 2023–2024 baseline to the October 2025 peak, a ~30% relative increase.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ISOLATING THE CAUSE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isn't broad-based — it's one dealer.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110642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MobileZone: +2.5 points (H1→H2) — more than 10× any other dealer's shift, on a dealer that is 18.5% of the subscriber base.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CAUSE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cause: an acquisition surge, months back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400800" y="1783080"/>
          <a:ext cx="52120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257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H1 2025, MobileZone captured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of all new subscribers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company-wide — more than double its normal 15–19% share.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of that cohort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had already churned by year-end (median tenure ~6 months) — a churn speed far outside normal cohort behavior.</a:t>
            </a:r>
            <a:endParaRPr lang="en-US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2025 budget flips from beat to miss in Q4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400800" y="1737360"/>
          <a:ext cx="52120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897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Beating budget by +₪24.4k through September → missing by –₪80.5k cumulative by December — the same months churn accelerated.</a:t>
            </a:r>
            <a:endParaRPr lang="en-US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RECOMMEND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moves, in order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83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783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MobileZone's H1-2025 sales/incentive practices — promo, subsidy, or quota push behind the surge.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834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834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or closely monitor new activations through MobileZone until the cause is confirmed and fixed.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886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structural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3886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dealer performance on 90/180-day retention, not gross adds alone — this is exactly what let it run two quarters unnoticed.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98348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937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Re-forecast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4937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2025 year-end and 2026 budget assumptions for revision if the book doesn't stabilize.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GOT HERE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Assumptions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here is defensible — full detail lives in the data-quality memo.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first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Profiled all 6 source files before analysis: nulls, duplicate keys, referential integrity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dealer_code (39 raw spellings → 10 dealers)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Deduped a legacy-named plan_code row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965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Documented assumptions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246888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Budget's “Jerusalem &amp; South” reconciled against 5-way district split via a bridge mapping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month counts as active (final partial-month bill)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billed_amount used as-is as net revenue (no overage breakout in source data)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1965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scope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246888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subscriber-month billing fact + district-month budget fact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3,678 subscribers (7.2%) churned before the billing window (2023-07) starts — excluded from revenue/churn measures, kept in dimension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in the data-quality memo (Phase 1 deliverable)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data-quality memo, star schema, and DAX measure library available on request / in the supporting workbook.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standing dashboard, not a one-time report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252E63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632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Weekly-monitoring page: revenue, churn, ARPU, subscriber trend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210312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252E63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23774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Performance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30632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budget by district/month, YTD variance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210312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252E63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0" y="23774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Dealer &amp; Churn Driver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30632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finding, live: retention-by-dealer, cohort quality, always on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937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revisit acquisition-quality KPIs monthly — this is the metric that would have caught it in July, not January.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7607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NexWave Mobile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NexWave Mobile — Q4 2025 Business Health Review</dc:title>
  <dc:subject>PptxGenJS Presentation</dc:subject>
  <dc:creator>Elad</dc:creator>
  <cp:lastModifiedBy>Elad</cp:lastModifiedBy>
  <cp:revision>1</cp:revision>
  <dcterms:created xsi:type="dcterms:W3CDTF">2026-09-14T19:10:18Z</dcterms:created>
  <dcterms:modified xsi:type="dcterms:W3CDTF">2026-09-14T19:10:18Z</dcterms:modified>
</cp:coreProperties>
</file>